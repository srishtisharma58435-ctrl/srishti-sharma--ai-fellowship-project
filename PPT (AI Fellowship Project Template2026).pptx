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tags/tag16.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8" r:id="rId2"/>
    <p:sldId id="257" r:id="rId3"/>
    <p:sldId id="258" r:id="rId4"/>
    <p:sldId id="259" r:id="rId5"/>
    <p:sldId id="260" r:id="rId6"/>
    <p:sldId id="261" r:id="rId7"/>
    <p:sldId id="270" r:id="rId8"/>
    <p:sldId id="262" r:id="rId9"/>
    <p:sldId id="263" r:id="rId10"/>
    <p:sldId id="264" r:id="rId11"/>
    <p:sldId id="265" r:id="rId12"/>
    <p:sldId id="266" r:id="rId13"/>
  </p:sldIdLst>
  <p:sldSz cx="9144000" cy="5143500" type="screen16x9"/>
  <p:notesSz cx="5143500" cy="9144000"/>
  <p:custDataLst>
    <p:tags r:id="rId15"/>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3ED"/>
    <a:srgbClr val="CEE3FA"/>
    <a:srgbClr val="1565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0"/>
  </p:normalViewPr>
  <p:slideViewPr>
    <p:cSldViewPr snapToGrid="0" snapToObjects="1">
      <p:cViewPr varScale="1">
        <p:scale>
          <a:sx n="102" d="100"/>
          <a:sy n="102" d="100"/>
        </p:scale>
        <p:origin x="244" y="76"/>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EA8E6-1C34-ADCF-7EDE-FD8C86C8D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4F2069-A8C5-36C5-22B6-5B4B3E1A7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ECAD4-3067-652D-8DE4-529A1DEE84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132D86-99AA-B790-B8A9-5AE4188C049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174071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7" Type="http://schemas.openxmlformats.org/officeDocument/2006/relationships/image" Target="../media/image15.png"/><Relationship Id="rId2" Type="http://schemas.openxmlformats.org/officeDocument/2006/relationships/slideLayout" Target="../slideLayouts/slideLayout1.xml"/><Relationship Id="rId1" Type="http://schemas.openxmlformats.org/officeDocument/2006/relationships/tags" Target="../tags/tag1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364882" y="652908"/>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6439" y="5023761"/>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6439" y="2542126"/>
            <a:ext cx="4276134" cy="621945"/>
            <a:chOff x="0" y="2983699"/>
            <a:chExt cx="4276134" cy="433227"/>
          </a:xfrm>
        </p:grpSpPr>
        <p:grpSp>
          <p:nvGrpSpPr>
            <p:cNvPr id="28" name="Group 28">
              <a:extLst>
                <a:ext uri="{FF2B5EF4-FFF2-40B4-BE49-F238E27FC236}">
                  <a16:creationId xmlns:a16="http://schemas.microsoft.com/office/drawing/2014/main" id="{20253B4E-5254-3A4A-D2B3-FDC541381304}"/>
                </a:ext>
              </a:extLst>
            </p:cNvPr>
            <p:cNvGrpSpPr/>
            <p:nvPr/>
          </p:nvGrpSpPr>
          <p:grpSpPr>
            <a:xfrm>
              <a:off x="0" y="2983699"/>
              <a:ext cx="4224335" cy="433227"/>
              <a:chOff x="0" y="-40314"/>
              <a:chExt cx="4355842" cy="446714"/>
            </a:xfrm>
          </p:grpSpPr>
          <p:sp>
            <p:nvSpPr>
              <p:cNvPr id="29" name="Freeform 29">
                <a:extLst>
                  <a:ext uri="{FF2B5EF4-FFF2-40B4-BE49-F238E27FC236}">
                    <a16:creationId xmlns:a16="http://schemas.microsoft.com/office/drawing/2014/main" id="{98AC3028-4A73-A10C-B23F-D62CE7C18AED}"/>
                  </a:ext>
                </a:extLst>
              </p:cNvPr>
              <p:cNvSpPr/>
              <p:nvPr/>
            </p:nvSpPr>
            <p:spPr>
              <a:xfrm>
                <a:off x="0" y="-40314"/>
                <a:ext cx="4355842" cy="282764"/>
              </a:xfrm>
              <a:custGeom>
                <a:avLst/>
                <a:gdLst/>
                <a:ahLst/>
                <a:cxnLst/>
                <a:rect l="l" t="t" r="r" b="b"/>
                <a:pathLst>
                  <a:path w="4355842" h="406400">
                    <a:moveTo>
                      <a:pt x="4152642" y="0"/>
                    </a:moveTo>
                    <a:lnTo>
                      <a:pt x="0" y="0"/>
                    </a:lnTo>
                    <a:lnTo>
                      <a:pt x="0" y="406400"/>
                    </a:lnTo>
                    <a:lnTo>
                      <a:pt x="4152642" y="406400"/>
                    </a:lnTo>
                    <a:lnTo>
                      <a:pt x="4355842" y="203200"/>
                    </a:lnTo>
                    <a:lnTo>
                      <a:pt x="4152642" y="0"/>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dirty="0"/>
              </a:p>
            </p:txBody>
          </p:sp>
          <p:sp>
            <p:nvSpPr>
              <p:cNvPr id="30" name="TextBox 30">
                <a:extLst>
                  <a:ext uri="{FF2B5EF4-FFF2-40B4-BE49-F238E27FC236}">
                    <a16:creationId xmlns:a16="http://schemas.microsoft.com/office/drawing/2014/main" id="{199C1F1F-4C5C-E8C0-1593-D5C9F6952716}"/>
                  </a:ext>
                </a:extLst>
              </p:cNvPr>
              <p:cNvSpPr txBox="1"/>
              <p:nvPr/>
            </p:nvSpPr>
            <p:spPr>
              <a:xfrm>
                <a:off x="0" y="-38100"/>
                <a:ext cx="4241542" cy="444500"/>
              </a:xfrm>
              <a:prstGeom prst="rect">
                <a:avLst/>
              </a:prstGeom>
            </p:spPr>
            <p:txBody>
              <a:bodyPr lIns="25400" tIns="25400" rIns="25400" bIns="25400" rtlCol="0" anchor="ctr"/>
              <a:lstStyle/>
              <a:p>
                <a:pPr algn="ctr">
                  <a:lnSpc>
                    <a:spcPts val="1330"/>
                  </a:lnSpc>
                </a:pPr>
                <a:endParaRPr sz="700"/>
              </a:p>
            </p:txBody>
          </p:sp>
        </p:grpSp>
        <p:sp>
          <p:nvSpPr>
            <p:cNvPr id="44" name="TextBox 44">
              <a:extLst>
                <a:ext uri="{FF2B5EF4-FFF2-40B4-BE49-F238E27FC236}">
                  <a16:creationId xmlns:a16="http://schemas.microsoft.com/office/drawing/2014/main" id="{3578161E-D839-4793-89CB-83A287A2849E}"/>
                </a:ext>
              </a:extLst>
            </p:cNvPr>
            <p:cNvSpPr txBox="1"/>
            <p:nvPr/>
          </p:nvSpPr>
          <p:spPr>
            <a:xfrm>
              <a:off x="466725" y="3100839"/>
              <a:ext cx="3809409" cy="223587"/>
            </a:xfrm>
            <a:prstGeom prst="rect">
              <a:avLst/>
            </a:prstGeom>
          </p:spPr>
          <p:txBody>
            <a:bodyPr lIns="0" tIns="0" rIns="0" bIns="0" rtlCol="0" anchor="t">
              <a:spAutoFit/>
            </a:bodyPr>
            <a:lstStyle/>
            <a:p>
              <a:pPr>
                <a:lnSpc>
                  <a:spcPts val="1943"/>
                </a:lnSpc>
              </a:pPr>
              <a:r>
                <a:rPr lang="en-US" sz="1400" b="1" spc="583" dirty="0">
                  <a:solidFill>
                    <a:srgbClr val="FFFFFF"/>
                  </a:solidFill>
                  <a:latin typeface="Arial" panose="020B0604020202020204" pitchFamily="34" charset="0"/>
                  <a:ea typeface="Aileron Bold"/>
                  <a:cs typeface="Arial" panose="020B0604020202020204" pitchFamily="34" charset="0"/>
                  <a:sym typeface="Aileron Bold"/>
                </a:rPr>
                <a:t>PRESENTATION 2026</a:t>
              </a:r>
            </a:p>
          </p:txBody>
        </p:sp>
      </p:grpSp>
      <p:sp>
        <p:nvSpPr>
          <p:cNvPr id="40" name="TextBox 40">
            <a:extLst>
              <a:ext uri="{FF2B5EF4-FFF2-40B4-BE49-F238E27FC236}">
                <a16:creationId xmlns:a16="http://schemas.microsoft.com/office/drawing/2014/main" id="{EEE29F0A-1253-B8CE-E742-41B8B6EB922D}"/>
              </a:ext>
            </a:extLst>
          </p:cNvPr>
          <p:cNvSpPr txBox="1"/>
          <p:nvPr/>
        </p:nvSpPr>
        <p:spPr>
          <a:xfrm>
            <a:off x="843151" y="3639905"/>
            <a:ext cx="1551967" cy="487634"/>
          </a:xfrm>
          <a:prstGeom prst="rect">
            <a:avLst/>
          </a:prstGeom>
        </p:spPr>
        <p:txBody>
          <a:bodyPr wrap="square"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Name </a:t>
            </a:r>
          </a:p>
          <a:p>
            <a:pPr>
              <a:lnSpc>
                <a:spcPts val="1296"/>
              </a:lnSpc>
            </a:pPr>
            <a:endParaRPr lang="en-US" sz="1000" dirty="0">
              <a:latin typeface="Arial" panose="020B0604020202020204" pitchFamily="34" charset="0"/>
              <a:ea typeface="Aileron"/>
              <a:cs typeface="Arial" panose="020B0604020202020204" pitchFamily="34" charset="0"/>
              <a:sym typeface="Aileron"/>
            </a:endParaRPr>
          </a:p>
          <a:p>
            <a:pPr>
              <a:lnSpc>
                <a:spcPts val="1296"/>
              </a:lnSpc>
            </a:pPr>
            <a:r>
              <a:rPr lang="en-US" sz="1000" b="1" dirty="0">
                <a:solidFill>
                  <a:srgbClr val="002060"/>
                </a:solidFill>
                <a:latin typeface="Arial" panose="020B0604020202020204" pitchFamily="34" charset="0"/>
                <a:ea typeface="Aileron"/>
                <a:cs typeface="Arial" panose="020B0604020202020204" pitchFamily="34" charset="0"/>
                <a:sym typeface="Aileron"/>
              </a:rPr>
              <a:t>Srishti  Sharma </a:t>
            </a:r>
          </a:p>
        </p:txBody>
      </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5"/>
          <a:srcRect l="26757" t="2453" r="27842" b="53701"/>
          <a:stretch>
            <a:fillRect/>
          </a:stretch>
        </p:blipFill>
        <p:spPr>
          <a:xfrm>
            <a:off x="429808" y="3639905"/>
            <a:ext cx="395331" cy="381795"/>
          </a:xfrm>
          <a:prstGeom prst="rect">
            <a:avLst/>
          </a:prstGeom>
        </p:spPr>
      </p:pic>
      <p:sp>
        <p:nvSpPr>
          <p:cNvPr id="41" name="TextBox 41">
            <a:extLst>
              <a:ext uri="{FF2B5EF4-FFF2-40B4-BE49-F238E27FC236}">
                <a16:creationId xmlns:a16="http://schemas.microsoft.com/office/drawing/2014/main" id="{3403BDBE-05E2-50C5-0F55-4F0483352E2C}"/>
              </a:ext>
            </a:extLst>
          </p:cNvPr>
          <p:cNvSpPr txBox="1"/>
          <p:nvPr/>
        </p:nvSpPr>
        <p:spPr>
          <a:xfrm>
            <a:off x="3176086" y="3642226"/>
            <a:ext cx="1809978" cy="154209"/>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Student Email</a:t>
            </a:r>
          </a:p>
        </p:txBody>
      </p:sp>
      <p:sp>
        <p:nvSpPr>
          <p:cNvPr id="43" name="TextBox 43">
            <a:extLst>
              <a:ext uri="{FF2B5EF4-FFF2-40B4-BE49-F238E27FC236}">
                <a16:creationId xmlns:a16="http://schemas.microsoft.com/office/drawing/2014/main" id="{B84F91E2-C42E-10B3-A03A-88AA58AF1258}"/>
              </a:ext>
            </a:extLst>
          </p:cNvPr>
          <p:cNvSpPr txBox="1"/>
          <p:nvPr/>
        </p:nvSpPr>
        <p:spPr>
          <a:xfrm>
            <a:off x="3026536" y="3885571"/>
            <a:ext cx="2575774" cy="227435"/>
          </a:xfrm>
          <a:prstGeom prst="rect">
            <a:avLst/>
          </a:prstGeom>
        </p:spPr>
        <p:txBody>
          <a:bodyPr wrap="square"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Srishtisharma58435@gmail.com</a:t>
            </a:r>
          </a:p>
        </p:txBody>
      </p:sp>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5"/>
          <a:srcRect l="26859" t="52379" r="26874" b="2349"/>
          <a:stretch>
            <a:fillRect/>
          </a:stretch>
        </p:blipFill>
        <p:spPr>
          <a:xfrm>
            <a:off x="2747249" y="3631981"/>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860459" y="4337076"/>
            <a:ext cx="2272871" cy="645499"/>
            <a:chOff x="3139699" y="4295282"/>
            <a:chExt cx="2272871" cy="645499"/>
          </a:xfrm>
        </p:grpSpPr>
        <p:sp>
          <p:nvSpPr>
            <p:cNvPr id="67" name="TextBox 41">
              <a:extLst>
                <a:ext uri="{FF2B5EF4-FFF2-40B4-BE49-F238E27FC236}">
                  <a16:creationId xmlns:a16="http://schemas.microsoft.com/office/drawing/2014/main" id="{5FE6F280-D970-382B-5260-25E219F86722}"/>
                </a:ext>
              </a:extLst>
            </p:cNvPr>
            <p:cNvSpPr txBox="1"/>
            <p:nvPr/>
          </p:nvSpPr>
          <p:spPr>
            <a:xfrm>
              <a:off x="3139699" y="4295282"/>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3139699" y="4456866"/>
              <a:ext cx="2272871" cy="483915"/>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P Raja Sir</a:t>
              </a:r>
            </a:p>
            <a:p>
              <a:pPr>
                <a:lnSpc>
                  <a:spcPts val="2038"/>
                </a:lnSpc>
              </a:pPr>
              <a:endParaRPr lang="en-US" sz="1200" b="1" dirty="0">
                <a:solidFill>
                  <a:srgbClr val="0D358D"/>
                </a:solidFill>
                <a:latin typeface="Arial" panose="020B0604020202020204" pitchFamily="34" charset="0"/>
                <a:ea typeface="Aileron Bold"/>
                <a:cs typeface="Arial" panose="020B0604020202020204" pitchFamily="34" charset="0"/>
                <a:sym typeface="Aileron Bold"/>
              </a:endParaRP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6"/>
          <a:srcRect l="28109" t="6546" r="28551" b="49509"/>
          <a:stretch>
            <a:fillRect/>
          </a:stretch>
        </p:blipFill>
        <p:spPr>
          <a:xfrm>
            <a:off x="447718" y="4346948"/>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7"/>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8"/>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9"/>
          <a:srcRect b="19729"/>
          <a:stretch>
            <a:fillRect/>
          </a:stretch>
        </p:blipFill>
        <p:spPr>
          <a:xfrm>
            <a:off x="173754" y="1046557"/>
            <a:ext cx="3854253" cy="1482543"/>
          </a:xfrm>
          <a:prstGeom prst="rect">
            <a:avLst/>
          </a:prstGeom>
        </p:spPr>
      </p:pic>
      <p:sp>
        <p:nvSpPr>
          <p:cNvPr id="26" name="TextBox 25">
            <a:extLst>
              <a:ext uri="{FF2B5EF4-FFF2-40B4-BE49-F238E27FC236}">
                <a16:creationId xmlns:a16="http://schemas.microsoft.com/office/drawing/2014/main" id="{EACFB876-83A7-B519-D582-D92985321C64}"/>
              </a:ext>
            </a:extLst>
          </p:cNvPr>
          <p:cNvSpPr txBox="1"/>
          <p:nvPr/>
        </p:nvSpPr>
        <p:spPr>
          <a:xfrm>
            <a:off x="173754" y="3164071"/>
            <a:ext cx="3946171" cy="400110"/>
          </a:xfrm>
          <a:prstGeom prst="rect">
            <a:avLst/>
          </a:prstGeom>
          <a:noFill/>
        </p:spPr>
        <p:txBody>
          <a:bodyPr wrap="square" rtlCol="0">
            <a:spAutoFit/>
          </a:bodyPr>
          <a:lstStyle/>
          <a:p>
            <a:r>
              <a:rPr lang="en-IN" sz="1000" dirty="0">
                <a:solidFill>
                  <a:srgbClr val="0070C0"/>
                </a:solidFill>
                <a:latin typeface="Times New Roman" panose="02020603050405020304" pitchFamily="18" charset="0"/>
                <a:cs typeface="Times New Roman" panose="02020603050405020304" pitchFamily="18" charset="0"/>
              </a:rPr>
              <a:t>From Data Chaos To Clarity: Healthcare Analytics For Operational Excellence.</a:t>
            </a:r>
          </a:p>
        </p:txBody>
      </p:sp>
      <p:pic>
        <p:nvPicPr>
          <p:cNvPr id="27" name="Picture 26">
            <a:extLst>
              <a:ext uri="{FF2B5EF4-FFF2-40B4-BE49-F238E27FC236}">
                <a16:creationId xmlns:a16="http://schemas.microsoft.com/office/drawing/2014/main" id="{827A2BA6-69EF-8802-4EEC-F5C045A163DB}"/>
              </a:ext>
            </a:extLst>
          </p:cNvPr>
          <p:cNvPicPr>
            <a:picLocks noChangeAspect="1"/>
          </p:cNvPicPr>
          <p:nvPr/>
        </p:nvPicPr>
        <p:blipFill>
          <a:blip r:embed="rId6"/>
          <a:srcRect l="28109" t="6546" r="28551" b="49509"/>
          <a:stretch>
            <a:fillRect/>
          </a:stretch>
        </p:blipFill>
        <p:spPr>
          <a:xfrm>
            <a:off x="2747249" y="4292545"/>
            <a:ext cx="375815" cy="381063"/>
          </a:xfrm>
          <a:prstGeom prst="rect">
            <a:avLst/>
          </a:prstGeom>
        </p:spPr>
      </p:pic>
      <p:sp>
        <p:nvSpPr>
          <p:cNvPr id="42" name="TextBox 41">
            <a:extLst>
              <a:ext uri="{FF2B5EF4-FFF2-40B4-BE49-F238E27FC236}">
                <a16:creationId xmlns:a16="http://schemas.microsoft.com/office/drawing/2014/main" id="{BBE863D3-44C0-C591-D82D-310C6E623AB0}"/>
              </a:ext>
            </a:extLst>
          </p:cNvPr>
          <p:cNvSpPr txBox="1"/>
          <p:nvPr/>
        </p:nvSpPr>
        <p:spPr>
          <a:xfrm>
            <a:off x="3239037" y="4436772"/>
            <a:ext cx="1893194" cy="400110"/>
          </a:xfrm>
          <a:prstGeom prst="rect">
            <a:avLst/>
          </a:prstGeom>
          <a:noFill/>
        </p:spPr>
        <p:txBody>
          <a:bodyPr wrap="square" rtlCol="0">
            <a:spAutoFit/>
          </a:bodyPr>
          <a:lstStyle/>
          <a:p>
            <a:r>
              <a:rPr lang="en-IN" sz="1000" dirty="0"/>
              <a:t>Guide Name</a:t>
            </a:r>
          </a:p>
          <a:p>
            <a:r>
              <a:rPr lang="en-IN" sz="1000" dirty="0">
                <a:solidFill>
                  <a:schemeClr val="accent5">
                    <a:lumMod val="50000"/>
                  </a:schemeClr>
                </a:solidFill>
              </a:rPr>
              <a:t>Umamaheshwari Ma’am  </a:t>
            </a: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6480"/>
            <a:ext cx="8229600" cy="438912"/>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Outline</a:t>
            </a:r>
            <a:endParaRPr lang="en-US" sz="2000" dirty="0">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382023"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Abstract of the Project</a:t>
            </a:r>
            <a:endParaRPr lang="en-IN" sz="1800"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228600" indent="-228600">
              <a:spcAft>
                <a:spcPts val="800"/>
              </a:spcAft>
              <a:buFont typeface="Arial" panose="020B0604020202020204" pitchFamily="34" charset="0"/>
              <a:buChar char="•"/>
              <a:tabLst>
                <a:tab pos="4229100" algn="ctr"/>
              </a:tabLst>
            </a:pPr>
            <a:r>
              <a:rPr lang="en-US" sz="1800" dirty="0">
                <a:latin typeface="Times New Roman" panose="02020603050405020304" pitchFamily="18" charset="0"/>
                <a:ea typeface="+mn-lt"/>
                <a:cs typeface="Times New Roman" panose="02020603050405020304" pitchFamily="18"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Times New Roman" panose="02020603050405020304" pitchFamily="18" charset="0"/>
                <a:ea typeface="+mn-lt"/>
                <a:cs typeface="Times New Roman" panose="02020603050405020304" pitchFamily="18"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Times New Roman" panose="02020603050405020304" pitchFamily="18" charset="0"/>
                <a:ea typeface="+mn-lt"/>
                <a:cs typeface="Times New Roman" panose="02020603050405020304" pitchFamily="18"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Times New Roman" panose="02020603050405020304" pitchFamily="18" charset="0"/>
                <a:ea typeface="+mn-lt"/>
                <a:cs typeface="Times New Roman" panose="02020603050405020304" pitchFamily="18"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Times New Roman" panose="02020603050405020304" pitchFamily="18" charset="0"/>
                <a:ea typeface="+mn-lt"/>
                <a:cs typeface="Times New Roman" panose="02020603050405020304" pitchFamily="18"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Times New Roman" panose="02020603050405020304" pitchFamily="18" charset="0"/>
                <a:ea typeface="+mn-lt"/>
                <a:cs typeface="Times New Roman" panose="02020603050405020304" pitchFamily="18" charset="0"/>
              </a:rPr>
              <a:t>Conclusion</a:t>
            </a:r>
          </a:p>
          <a:p>
            <a:pPr marL="228600" indent="-228600">
              <a:spcAft>
                <a:spcPts val="800"/>
              </a:spcAft>
              <a:buFont typeface="Arial" panose="020B0604020202020204" pitchFamily="34" charset="0"/>
              <a:buChar char="•"/>
              <a:tabLst>
                <a:tab pos="4229100" algn="ctr"/>
              </a:tabLst>
            </a:pPr>
            <a:r>
              <a:rPr lang="en-US" sz="1800" dirty="0">
                <a:latin typeface="Times New Roman" panose="02020603050405020304" pitchFamily="18" charset="0"/>
                <a:ea typeface="+mn-lt"/>
                <a:cs typeface="Times New Roman" panose="02020603050405020304" pitchFamily="18"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Abstract</a:t>
            </a: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259080" y="1151694"/>
            <a:ext cx="5002346" cy="3323987"/>
          </a:xfrm>
          <a:prstGeom prst="rect">
            <a:avLst/>
          </a:prstGeom>
          <a:noFill/>
        </p:spPr>
        <p:txBody>
          <a:bodyPr wrap="square">
            <a:spAutoFit/>
          </a:bodyPr>
          <a:lstStyle/>
          <a:p>
            <a:r>
              <a:rPr lang="en-US" sz="1200" dirty="0">
                <a:latin typeface="Times New Roman" panose="02020603050405020304" pitchFamily="18" charset="0"/>
                <a:cs typeface="Times New Roman" panose="02020603050405020304" pitchFamily="18" charset="0"/>
              </a:rPr>
              <a:t>This project is about cleaning hospital patient data and creating a simple dashboard to understand health-related information better. Hospital data often has errors like missing values, duplicate records, and inconsistent formats. In this project, these issues are fixed to make the data accurate and reliable.</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Objectives: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 main goal is to improve data quality and get useful insights from it. This includes understanding patient details, tracking diseases, analyzing admission trends, and checking treatment outcomes. It also helps hospitals manage resources and improve patient care.</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Tools &amp; Technologies:</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Tools used in this project include  Excel for basic analysis, making Pivot Table to make an attractive Dashboard in excel.</a:t>
            </a:r>
          </a:p>
          <a:p>
            <a:r>
              <a:rPr lang="en-US" sz="1200" dirty="0">
                <a:latin typeface="Times New Roman" panose="02020603050405020304" pitchFamily="18" charset="0"/>
                <a:cs typeface="Times New Roman" panose="02020603050405020304" pitchFamily="18" charset="0"/>
              </a:rPr>
              <a:t>Overall, this project shows how clean data and easy-to-understand dashboards can help hospitals make better decisions and improve healthcare services.</a:t>
            </a:r>
          </a:p>
          <a:p>
            <a:pPr algn="just">
              <a:spcAft>
                <a:spcPts val="800"/>
              </a:spcAft>
              <a:tabLst>
                <a:tab pos="4229100" algn="ctr"/>
              </a:tabLst>
            </a:pPr>
            <a:endParaRPr lang="en-US" sz="1800" dirty="0">
              <a:solidFill>
                <a:schemeClr val="tx1"/>
              </a:solidFill>
              <a:effectLst/>
              <a:latin typeface="Lato" panose="020F0502020204030203" pitchFamily="34" charset="0"/>
              <a:ea typeface="Open Sans" panose="020B0606030504020204" pitchFamily="34" charset="0"/>
              <a:cs typeface="Arial" panose="020B0604020202020204" pitchFamily="34" charset="0"/>
            </a:endParaRP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4888151" y="873760"/>
            <a:ext cx="3947240" cy="3947240"/>
          </a:xfrm>
          <a:prstGeom prst="rect">
            <a:avLst/>
          </a:prstGeom>
        </p:spPr>
      </p:pic>
      <p:sp>
        <p:nvSpPr>
          <p:cNvPr id="4" name="Text 2"/>
          <p:cNvSpPr/>
          <p:nvPr/>
        </p:nvSpPr>
        <p:spPr>
          <a:xfrm>
            <a:off x="120623" y="476250"/>
            <a:ext cx="8229600" cy="397510"/>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Problem Statement</a:t>
            </a:r>
            <a:endParaRPr lang="en-US" sz="2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C3109588-A58A-1012-8545-CA624C1AF8FE}"/>
              </a:ext>
            </a:extLst>
          </p:cNvPr>
          <p:cNvSpPr txBox="1"/>
          <p:nvPr/>
        </p:nvSpPr>
        <p:spPr>
          <a:xfrm>
            <a:off x="165100" y="825500"/>
            <a:ext cx="4660900" cy="4030385"/>
          </a:xfrm>
          <a:prstGeom prst="rect">
            <a:avLst/>
          </a:prstGeom>
          <a:noFill/>
        </p:spPr>
        <p:txBody>
          <a:bodyPr wrap="square" rtlCol="0">
            <a:spAutoFit/>
          </a:bodyPr>
          <a:lstStyle/>
          <a:p>
            <a:r>
              <a:rPr lang="en-US" sz="1200" b="1" dirty="0">
                <a:latin typeface="Times New Roman" panose="02020603050405020304" pitchFamily="18" charset="0"/>
                <a:cs typeface="Times New Roman" panose="02020603050405020304" pitchFamily="18" charset="0"/>
              </a:rPr>
              <a:t>Lack of Patient Journey Visibility-</a:t>
            </a:r>
            <a:r>
              <a:rPr lang="en-US" sz="1200" dirty="0">
                <a:latin typeface="Times New Roman" panose="02020603050405020304" pitchFamily="18" charset="0"/>
                <a:cs typeface="Times New Roman" panose="02020603050405020304" pitchFamily="18" charset="0"/>
              </a:rPr>
              <a:t>Data does not show the complete flow (arrival → wait time → treatment → admission), making it hard to track efficiency.</a:t>
            </a:r>
          </a:p>
          <a:p>
            <a:r>
              <a:rPr lang="en-US" sz="1200" dirty="0">
                <a:latin typeface="Times New Roman" panose="02020603050405020304" pitchFamily="18" charset="0"/>
                <a:cs typeface="Times New Roman" panose="02020603050405020304" pitchFamily="18" charset="0"/>
              </a:rPr>
              <a:t> </a:t>
            </a:r>
          </a:p>
          <a:p>
            <a:r>
              <a:rPr lang="en-US" sz="1200" b="1" dirty="0">
                <a:latin typeface="Times New Roman" panose="02020603050405020304" pitchFamily="18" charset="0"/>
                <a:cs typeface="Times New Roman" panose="02020603050405020304" pitchFamily="18" charset="0"/>
              </a:rPr>
              <a:t>Hidden Relationships Between Variables-</a:t>
            </a:r>
            <a:r>
              <a:rPr lang="en-US" sz="1200" dirty="0">
                <a:latin typeface="Times New Roman" panose="02020603050405020304" pitchFamily="18" charset="0"/>
                <a:cs typeface="Times New Roman" panose="02020603050405020304" pitchFamily="18" charset="0"/>
              </a:rPr>
              <a:t>Important insights (like impact of wait time on satisfaction) are not directly visible and require calculated fields and deep analysis. </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No Direct KPI Structure-</a:t>
            </a:r>
            <a:r>
              <a:rPr lang="en-US" sz="1200" dirty="0">
                <a:latin typeface="Times New Roman" panose="02020603050405020304" pitchFamily="18" charset="0"/>
                <a:cs typeface="Times New Roman" panose="02020603050405020304" pitchFamily="18" charset="0"/>
              </a:rPr>
              <a:t>The dataset doesn’t define key performance indicators (KPIs), so metrics like average wait time, admission rate, and patient satisfaction had to be created manually. </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Difficulty in Real-Time Insight Simulation-</a:t>
            </a:r>
            <a:r>
              <a:rPr lang="en-US" sz="1200" dirty="0">
                <a:latin typeface="Times New Roman" panose="02020603050405020304" pitchFamily="18" charset="0"/>
                <a:cs typeface="Times New Roman" panose="02020603050405020304" pitchFamily="18" charset="0"/>
              </a:rPr>
              <a:t>Raw data is static, but the dashboard needed to simulate dynamic decision-making using slicers and filters. </a:t>
            </a:r>
          </a:p>
          <a:p>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Multi-Dimensional Data Complexity-</a:t>
            </a:r>
            <a:r>
              <a:rPr lang="en-US" sz="1200" dirty="0">
                <a:latin typeface="Times New Roman" panose="02020603050405020304" pitchFamily="18" charset="0"/>
                <a:cs typeface="Times New Roman" panose="02020603050405020304" pitchFamily="18" charset="0"/>
              </a:rPr>
              <a:t>Combining multiple dimensions (time, department, patient type, satisfaction) into a single dashboard without clutter was challenging. </a:t>
            </a:r>
          </a:p>
          <a:p>
            <a:endParaRPr lang="en-US" dirty="0">
              <a:latin typeface="Times New Roman" panose="02020603050405020304" pitchFamily="18" charset="0"/>
              <a:cs typeface="Times New Roman" panose="02020603050405020304" pitchFamily="18" charset="0"/>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4240286" y="725532"/>
            <a:ext cx="4903714" cy="4203183"/>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Proposed Solution</a:t>
            </a:r>
            <a:endParaRPr lang="en-US" sz="2000" dirty="0">
              <a:latin typeface="Times New Roman" panose="02020603050405020304" pitchFamily="18" charset="0"/>
              <a:cs typeface="Times New Roman" panose="02020603050405020304" pitchFamily="18"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396120" y="1183726"/>
            <a:ext cx="4175880" cy="3617105"/>
          </a:xfrm>
          <a:prstGeom prst="rect">
            <a:avLst/>
          </a:prstGeom>
          <a:noFill/>
          <a:ln/>
        </p:spPr>
        <p:txBody>
          <a:bodyPr wrap="square" rtlCol="0" anchor="t"/>
          <a:lstStyle/>
          <a:p>
            <a:r>
              <a:rPr lang="en-US" sz="1200" dirty="0">
                <a:latin typeface="Times New Roman" panose="02020603050405020304" pitchFamily="18" charset="0"/>
                <a:cs typeface="Times New Roman" panose="02020603050405020304" pitchFamily="18" charset="0"/>
              </a:rPr>
              <a:t>To address the lack of integrated insights, the raw hospital emergency dataset is transformed into a structured analytical model by creating calculated KPIs such as average wait time, patient satisfaction score, and admission rate.</a:t>
            </a: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Data is reorganized to reflect the complete patient journey, enabling better tracking of service flow. An interactive dashboard is developed using pivot tables, slicers, and dynamic charts to connect multiple variables like time, department, and patient type. This approach helps uncover hidden relationships, identify performance bottlenecks, and simulate real-time decision-making for improving emergency room efficiency.</a:t>
            </a:r>
          </a:p>
          <a:p>
            <a:endParaRPr lang="en-US" dirty="0">
              <a:latin typeface="Lato" panose="020F0502020204030203" pitchFamily="34" charset="0"/>
              <a:cs typeface="Arial" panose="020B0604020202020204" pitchFamily="34"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System Architecture</a:t>
            </a:r>
            <a:endParaRPr lang="en-US" sz="2000" dirty="0">
              <a:latin typeface="Times New Roman" panose="02020603050405020304" pitchFamily="18" charset="0"/>
              <a:cs typeface="Times New Roman" panose="02020603050405020304" pitchFamily="18" charset="0"/>
            </a:endParaRPr>
          </a:p>
        </p:txBody>
      </p:sp>
      <p:sp>
        <p:nvSpPr>
          <p:cNvPr id="6" name="Shape 4"/>
          <p:cNvSpPr/>
          <p:nvPr/>
        </p:nvSpPr>
        <p:spPr>
          <a:xfrm>
            <a:off x="189688" y="1240481"/>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Times New Roman" panose="02020603050405020304" pitchFamily="18" charset="0"/>
                <a:ea typeface="Calibri" pitchFamily="34" charset="-122"/>
                <a:cs typeface="Times New Roman" panose="02020603050405020304" pitchFamily="18" charset="0"/>
              </a:rPr>
              <a:t>Data Input / Source</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Times New Roman" panose="02020603050405020304" pitchFamily="18" charset="0"/>
                <a:ea typeface="Calibri" pitchFamily="34" charset="-122"/>
                <a:cs typeface="Times New Roman" panose="02020603050405020304" pitchFamily="18" charset="0"/>
              </a:rPr>
              <a:t>Processing / Analysis</a:t>
            </a:r>
            <a:endParaRPr lang="en-US" sz="1600" dirty="0">
              <a:latin typeface="Times New Roman" panose="02020603050405020304" pitchFamily="18" charset="0"/>
              <a:cs typeface="Times New Roman" panose="02020603050405020304" pitchFamily="18" charset="0"/>
            </a:endParaRPr>
          </a:p>
        </p:txBody>
      </p:sp>
      <p:sp>
        <p:nvSpPr>
          <p:cNvPr id="13" name="Text 11"/>
          <p:cNvSpPr/>
          <p:nvPr/>
        </p:nvSpPr>
        <p:spPr>
          <a:xfrm>
            <a:off x="4761688" y="1700399"/>
            <a:ext cx="4023360" cy="2199901"/>
          </a:xfrm>
          <a:prstGeom prst="rect">
            <a:avLst/>
          </a:prstGeom>
          <a:noFill/>
          <a:ln/>
        </p:spPr>
        <p:txBody>
          <a:bodyPr wrap="square" rtlCol="0" anchor="t"/>
          <a:lstStyle/>
          <a:p>
            <a:pPr marL="0" indent="0">
              <a:buNone/>
            </a:pPr>
            <a:r>
              <a:rPr lang="en-US" sz="1600" dirty="0">
                <a:solidFill>
                  <a:srgbClr val="1A1A2E"/>
                </a:solidFill>
                <a:latin typeface="Times New Roman" panose="02020603050405020304" pitchFamily="18" charset="0"/>
                <a:ea typeface="Calibri" pitchFamily="34" charset="-122"/>
                <a:cs typeface="Times New Roman" panose="02020603050405020304" pitchFamily="18" charset="0"/>
              </a:rPr>
              <a:t>Data Cleaning: Removed duplicates, corrected data types, standardize disease department category &amp; formats, sort date errors &amp; fix address errors. </a:t>
            </a:r>
          </a:p>
          <a:p>
            <a:pPr marL="0" indent="0">
              <a:buNone/>
            </a:pPr>
            <a:endParaRPr lang="en-US" sz="1600" dirty="0">
              <a:solidFill>
                <a:srgbClr val="1A1A2E"/>
              </a:solidFill>
              <a:latin typeface="Times New Roman" panose="02020603050405020304" pitchFamily="18" charset="0"/>
              <a:ea typeface="Calibri" pitchFamily="34" charset="-122"/>
              <a:cs typeface="Times New Roman" panose="02020603050405020304" pitchFamily="18" charset="0"/>
            </a:endParaRPr>
          </a:p>
          <a:p>
            <a:pPr marL="0" indent="0">
              <a:buNone/>
            </a:pPr>
            <a:r>
              <a:rPr lang="en-US" sz="1600" dirty="0">
                <a:solidFill>
                  <a:srgbClr val="1A1A2E"/>
                </a:solidFill>
                <a:latin typeface="Times New Roman" panose="02020603050405020304" pitchFamily="18" charset="0"/>
                <a:ea typeface="Calibri" pitchFamily="34" charset="-122"/>
                <a:cs typeface="Times New Roman" panose="02020603050405020304" pitchFamily="18" charset="0"/>
              </a:rPr>
              <a:t>Analysis/ processing: excel formulas, and analyzing of data through dashboard.</a:t>
            </a:r>
          </a:p>
          <a:p>
            <a:pPr marL="0" indent="0">
              <a:buNone/>
            </a:pP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4696512"/>
            <a:ext cx="4023360" cy="595734"/>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20" name="Text 18"/>
          <p:cNvSpPr/>
          <p:nvPr/>
        </p:nvSpPr>
        <p:spPr>
          <a:xfrm>
            <a:off x="4679098" y="3646326"/>
            <a:ext cx="3923070" cy="384048"/>
          </a:xfrm>
          <a:prstGeom prst="rect">
            <a:avLst/>
          </a:prstGeom>
          <a:noFill/>
          <a:ln/>
        </p:spPr>
        <p:txBody>
          <a:bodyPr wrap="square" rtlCol="0" anchor="ctr"/>
          <a:lstStyle/>
          <a:p>
            <a:pPr marL="0" indent="0">
              <a:buNone/>
            </a:pPr>
            <a:endParaRPr lang="en-US" sz="1600" b="1" dirty="0">
              <a:latin typeface="Lato" panose="020F0502020204030203" pitchFamily="34" charset="0"/>
              <a:ea typeface="Calibri" pitchFamily="34" charset="-122"/>
              <a:cs typeface="Arial" panose="020B0604020202020204" pitchFamily="34" charset="0"/>
            </a:endParaRPr>
          </a:p>
        </p:txBody>
      </p:sp>
      <p:sp>
        <p:nvSpPr>
          <p:cNvPr id="2" name="TextBox 1">
            <a:extLst>
              <a:ext uri="{FF2B5EF4-FFF2-40B4-BE49-F238E27FC236}">
                <a16:creationId xmlns:a16="http://schemas.microsoft.com/office/drawing/2014/main" id="{857EB4ED-1461-1229-5E9A-71410A0D3C07}"/>
              </a:ext>
            </a:extLst>
          </p:cNvPr>
          <p:cNvSpPr txBox="1"/>
          <p:nvPr/>
        </p:nvSpPr>
        <p:spPr>
          <a:xfrm>
            <a:off x="326848" y="1841326"/>
            <a:ext cx="3932001" cy="830997"/>
          </a:xfrm>
          <a:prstGeom prst="rect">
            <a:avLst/>
          </a:prstGeom>
          <a:noFill/>
        </p:spPr>
        <p:txBody>
          <a:bodyPr wrap="square" rtlCol="0">
            <a:spAutoFit/>
          </a:bodyPr>
          <a:lstStyle/>
          <a:p>
            <a:r>
              <a:rPr lang="en-IN" sz="1600" dirty="0">
                <a:latin typeface="Times New Roman" panose="02020603050405020304" pitchFamily="18" charset="0"/>
                <a:cs typeface="Times New Roman" panose="02020603050405020304" pitchFamily="18" charset="0"/>
              </a:rPr>
              <a:t>Generated the raw dataset of hospital emergency room , the  file with 532 rows and 13 columns of patient records.</a:t>
            </a: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0D4C6A6-7D08-D3B3-93B5-E7D6264977A5}"/>
            </a:ext>
          </a:extLst>
        </p:cNvPr>
        <p:cNvGrpSpPr/>
        <p:nvPr/>
      </p:nvGrpSpPr>
      <p:grpSpPr>
        <a:xfrm>
          <a:off x="0" y="0"/>
          <a:ext cx="0" cy="0"/>
          <a:chOff x="0" y="0"/>
          <a:chExt cx="0" cy="0"/>
        </a:xfrm>
      </p:grpSpPr>
      <p:sp>
        <p:nvSpPr>
          <p:cNvPr id="6" name="Shape 4">
            <a:extLst>
              <a:ext uri="{FF2B5EF4-FFF2-40B4-BE49-F238E27FC236}">
                <a16:creationId xmlns:a16="http://schemas.microsoft.com/office/drawing/2014/main" id="{F8324970-612B-B8C3-FDD8-D11821175540}"/>
              </a:ext>
            </a:extLst>
          </p:cNvPr>
          <p:cNvSpPr/>
          <p:nvPr/>
        </p:nvSpPr>
        <p:spPr>
          <a:xfrm>
            <a:off x="235408" y="544882"/>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a:extLst>
              <a:ext uri="{FF2B5EF4-FFF2-40B4-BE49-F238E27FC236}">
                <a16:creationId xmlns:a16="http://schemas.microsoft.com/office/drawing/2014/main" id="{C989221B-B7F8-C403-DC9B-1585E92C5949}"/>
              </a:ext>
            </a:extLst>
          </p:cNvPr>
          <p:cNvSpPr/>
          <p:nvPr/>
        </p:nvSpPr>
        <p:spPr>
          <a:xfrm>
            <a:off x="4030168" y="544882"/>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a:extLst>
              <a:ext uri="{FF2B5EF4-FFF2-40B4-BE49-F238E27FC236}">
                <a16:creationId xmlns:a16="http://schemas.microsoft.com/office/drawing/2014/main" id="{D55E73C0-C81A-C329-82C7-BDD8553AF2E1}"/>
              </a:ext>
            </a:extLst>
          </p:cNvPr>
          <p:cNvSpPr/>
          <p:nvPr/>
        </p:nvSpPr>
        <p:spPr>
          <a:xfrm>
            <a:off x="326848" y="544882"/>
            <a:ext cx="3840480" cy="384048"/>
          </a:xfrm>
          <a:prstGeom prst="rect">
            <a:avLst/>
          </a:prstGeom>
          <a:noFill/>
          <a:ln/>
        </p:spPr>
        <p:txBody>
          <a:bodyPr wrap="square" rtlCol="0" anchor="ctr"/>
          <a:lstStyle/>
          <a:p>
            <a:pPr marL="0" indent="0">
              <a:buNone/>
            </a:pPr>
            <a:r>
              <a:rPr lang="en-US" sz="1600" b="1" dirty="0">
                <a:latin typeface="Times New Roman" panose="02020603050405020304" pitchFamily="18" charset="0"/>
                <a:ea typeface="Calibri" pitchFamily="34" charset="-122"/>
                <a:cs typeface="Times New Roman" panose="02020603050405020304" pitchFamily="18" charset="0"/>
              </a:rPr>
              <a:t>AI / Tool Integration </a:t>
            </a:r>
            <a:endParaRPr lang="en-US" sz="1600" dirty="0">
              <a:latin typeface="Times New Roman" panose="02020603050405020304" pitchFamily="18" charset="0"/>
              <a:cs typeface="Times New Roman" panose="02020603050405020304" pitchFamily="18" charset="0"/>
            </a:endParaRPr>
          </a:p>
        </p:txBody>
      </p:sp>
      <p:sp>
        <p:nvSpPr>
          <p:cNvPr id="9" name="Text 7">
            <a:extLst>
              <a:ext uri="{FF2B5EF4-FFF2-40B4-BE49-F238E27FC236}">
                <a16:creationId xmlns:a16="http://schemas.microsoft.com/office/drawing/2014/main" id="{D97B120C-69ED-82E7-47A5-59A841BF0E18}"/>
              </a:ext>
            </a:extLst>
          </p:cNvPr>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a:extLst>
              <a:ext uri="{FF2B5EF4-FFF2-40B4-BE49-F238E27FC236}">
                <a16:creationId xmlns:a16="http://schemas.microsoft.com/office/drawing/2014/main" id="{49BE9A09-E962-6D80-3D87-6E67FFFA9AC3}"/>
              </a:ext>
            </a:extLst>
          </p:cNvPr>
          <p:cNvSpPr/>
          <p:nvPr/>
        </p:nvSpPr>
        <p:spPr>
          <a:xfrm>
            <a:off x="4670248" y="544882"/>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a:extLst>
              <a:ext uri="{FF2B5EF4-FFF2-40B4-BE49-F238E27FC236}">
                <a16:creationId xmlns:a16="http://schemas.microsoft.com/office/drawing/2014/main" id="{2761683F-D0C8-0423-4864-3C4C116911D5}"/>
              </a:ext>
            </a:extLst>
          </p:cNvPr>
          <p:cNvSpPr/>
          <p:nvPr/>
        </p:nvSpPr>
        <p:spPr>
          <a:xfrm>
            <a:off x="8463837" y="544882"/>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a:extLst>
              <a:ext uri="{FF2B5EF4-FFF2-40B4-BE49-F238E27FC236}">
                <a16:creationId xmlns:a16="http://schemas.microsoft.com/office/drawing/2014/main" id="{EC32CE25-706C-E467-EBEA-D4A8CFA41631}"/>
              </a:ext>
            </a:extLst>
          </p:cNvPr>
          <p:cNvSpPr/>
          <p:nvPr/>
        </p:nvSpPr>
        <p:spPr>
          <a:xfrm>
            <a:off x="4761688" y="544882"/>
            <a:ext cx="3840480" cy="384048"/>
          </a:xfrm>
          <a:prstGeom prst="rect">
            <a:avLst/>
          </a:prstGeom>
          <a:noFill/>
          <a:ln/>
        </p:spPr>
        <p:txBody>
          <a:bodyPr wrap="square" rtlCol="0" anchor="ctr"/>
          <a:lstStyle/>
          <a:p>
            <a:pPr marL="0" indent="0">
              <a:buNone/>
            </a:pPr>
            <a:r>
              <a:rPr lang="en-US" sz="1600" b="1" dirty="0">
                <a:latin typeface="Times New Roman" panose="02020603050405020304" pitchFamily="18" charset="0"/>
                <a:ea typeface="Calibri" pitchFamily="34" charset="-122"/>
                <a:cs typeface="Times New Roman" panose="02020603050405020304" pitchFamily="18" charset="0"/>
              </a:rPr>
              <a:t>Output / Dashboard </a:t>
            </a:r>
            <a:endParaRPr lang="en-US" sz="1600" dirty="0">
              <a:latin typeface="Times New Roman" panose="02020603050405020304" pitchFamily="18" charset="0"/>
              <a:cs typeface="Times New Roman" panose="02020603050405020304" pitchFamily="18" charset="0"/>
            </a:endParaRPr>
          </a:p>
        </p:txBody>
      </p:sp>
      <p:sp>
        <p:nvSpPr>
          <p:cNvPr id="13" name="Text 11">
            <a:extLst>
              <a:ext uri="{FF2B5EF4-FFF2-40B4-BE49-F238E27FC236}">
                <a16:creationId xmlns:a16="http://schemas.microsoft.com/office/drawing/2014/main" id="{E07E5716-0CC3-AED0-2C07-EB7017BBBF09}"/>
              </a:ext>
            </a:extLst>
          </p:cNvPr>
          <p:cNvSpPr/>
          <p:nvPr/>
        </p:nvSpPr>
        <p:spPr>
          <a:xfrm>
            <a:off x="4761688" y="1227551"/>
            <a:ext cx="4023360" cy="2288701"/>
          </a:xfrm>
          <a:prstGeom prst="rect">
            <a:avLst/>
          </a:prstGeom>
          <a:noFill/>
          <a:ln/>
        </p:spPr>
        <p:txBody>
          <a:bodyPr wrap="square" rtlCol="0" anchor="t"/>
          <a:lstStyle/>
          <a:p>
            <a:r>
              <a:rPr lang="en-US" sz="1100" dirty="0">
                <a:solidFill>
                  <a:srgbClr val="1A1A2E"/>
                </a:solidFill>
                <a:latin typeface="Times New Roman" panose="02020603050405020304" pitchFamily="18" charset="0"/>
                <a:ea typeface="Calibri" pitchFamily="34" charset="-122"/>
                <a:cs typeface="Times New Roman" panose="02020603050405020304" pitchFamily="18" charset="0"/>
              </a:rPr>
              <a:t>The final output is an interactive Excel dashboard created using cleaned hospital emergency room data. With the help of pivot tables and charts, it shows key insights like total patients, waiting time, admission trends, and department-wise analysis. The dashboard uses filters and slicers for easy data viewing and helps in better decision-making, identifying peak hours, and improving patient care</a:t>
            </a:r>
            <a:r>
              <a:rPr lang="en-US" sz="1600" dirty="0">
                <a:solidFill>
                  <a:srgbClr val="1A1A2E"/>
                </a:solidFill>
                <a:latin typeface="Times New Roman" panose="02020603050405020304" pitchFamily="18" charset="0"/>
                <a:ea typeface="Calibri" pitchFamily="34" charset="-122"/>
                <a:cs typeface="Times New Roman" panose="02020603050405020304" pitchFamily="18" charset="0"/>
              </a:rPr>
              <a:t>.</a:t>
            </a:r>
          </a:p>
          <a:p>
            <a:pPr marL="0" indent="0">
              <a:buNone/>
            </a:pPr>
            <a:endParaRPr lang="en-US" sz="1600" dirty="0">
              <a:latin typeface="Lato" panose="020F0502020204030203" pitchFamily="34" charset="0"/>
              <a:cs typeface="Arial" panose="020B0604020202020204" pitchFamily="34" charset="0"/>
            </a:endParaRPr>
          </a:p>
        </p:txBody>
      </p:sp>
      <p:sp>
        <p:nvSpPr>
          <p:cNvPr id="2" name="TextBox 1">
            <a:extLst>
              <a:ext uri="{FF2B5EF4-FFF2-40B4-BE49-F238E27FC236}">
                <a16:creationId xmlns:a16="http://schemas.microsoft.com/office/drawing/2014/main" id="{44076C4F-D557-A3A8-E82A-E9AB42B66D36}"/>
              </a:ext>
            </a:extLst>
          </p:cNvPr>
          <p:cNvSpPr txBox="1"/>
          <p:nvPr/>
        </p:nvSpPr>
        <p:spPr>
          <a:xfrm>
            <a:off x="358952" y="1083501"/>
            <a:ext cx="3906160" cy="2292935"/>
          </a:xfrm>
          <a:prstGeom prst="rect">
            <a:avLst/>
          </a:prstGeom>
          <a:noFill/>
        </p:spPr>
        <p:txBody>
          <a:bodyPr wrap="square" rtlCol="0">
            <a:spAutoFit/>
          </a:bodyPr>
          <a:lstStyle/>
          <a:p>
            <a:r>
              <a:rPr lang="en-IN" sz="1100" b="1" dirty="0">
                <a:latin typeface="Times New Roman" panose="02020603050405020304" pitchFamily="18" charset="0"/>
                <a:cs typeface="Times New Roman" panose="02020603050405020304" pitchFamily="18" charset="0"/>
              </a:rPr>
              <a:t>Excel</a:t>
            </a:r>
            <a:r>
              <a:rPr lang="en-IN" sz="1100" dirty="0">
                <a:latin typeface="Times New Roman" panose="02020603050405020304" pitchFamily="18" charset="0"/>
                <a:cs typeface="Times New Roman" panose="02020603050405020304" pitchFamily="18" charset="0"/>
              </a:rPr>
              <a:t>: Removing duplicates, fixing date formats, correcting department categories and conditional formatting.</a:t>
            </a:r>
            <a:r>
              <a:rPr lang="en-US" sz="1100" dirty="0">
                <a:latin typeface="Times New Roman" panose="02020603050405020304" pitchFamily="18" charset="0"/>
                <a:cs typeface="Times New Roman" panose="02020603050405020304" pitchFamily="18" charset="0"/>
              </a:rPr>
              <a:t>The following tools and techniques were used : </a:t>
            </a:r>
          </a:p>
          <a:p>
            <a:endParaRPr lang="en-US" sz="1100"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Data Cleaning</a:t>
            </a:r>
            <a:r>
              <a:rPr lang="en-US" sz="1100" dirty="0">
                <a:latin typeface="Times New Roman" panose="02020603050405020304" pitchFamily="18" charset="0"/>
                <a:cs typeface="Times New Roman" panose="02020603050405020304" pitchFamily="18" charset="0"/>
              </a:rPr>
              <a:t>: Raw hospital emergency room data was cleaned using functions like sorting, filtering, and removing duplicates. Inconsistent entries were corrected to improve data accuracy.</a:t>
            </a:r>
          </a:p>
          <a:p>
            <a:r>
              <a:rPr lang="en-US" sz="1100" dirty="0">
                <a:latin typeface="Times New Roman" panose="02020603050405020304" pitchFamily="18" charset="0"/>
                <a:cs typeface="Times New Roman" panose="02020603050405020304" pitchFamily="18" charset="0"/>
              </a:rPr>
              <a:t> </a:t>
            </a:r>
          </a:p>
          <a:p>
            <a:r>
              <a:rPr lang="en-US" sz="1100" b="1" dirty="0">
                <a:latin typeface="Times New Roman" panose="02020603050405020304" pitchFamily="18" charset="0"/>
                <a:cs typeface="Times New Roman" panose="02020603050405020304" pitchFamily="18" charset="0"/>
              </a:rPr>
              <a:t>Pivot Tables</a:t>
            </a:r>
            <a:r>
              <a:rPr lang="en-US" sz="1100" dirty="0">
                <a:latin typeface="Times New Roman" panose="02020603050405020304" pitchFamily="18" charset="0"/>
                <a:cs typeface="Times New Roman" panose="02020603050405020304" pitchFamily="18" charset="0"/>
              </a:rPr>
              <a:t>: Pivot tables were created to summarize large datasets quickly. </a:t>
            </a:r>
          </a:p>
          <a:p>
            <a:endParaRPr lang="en-US" sz="1100" dirty="0">
              <a:latin typeface="Times New Roman" panose="02020603050405020304" pitchFamily="18" charset="0"/>
              <a:cs typeface="Times New Roman" panose="02020603050405020304" pitchFamily="18" charset="0"/>
            </a:endParaRPr>
          </a:p>
          <a:p>
            <a:r>
              <a:rPr lang="en-US" sz="1100" b="1" dirty="0">
                <a:latin typeface="Times New Roman" panose="02020603050405020304" pitchFamily="18" charset="0"/>
                <a:cs typeface="Times New Roman" panose="02020603050405020304" pitchFamily="18" charset="0"/>
              </a:rPr>
              <a:t>Data Visualization (Dashboard</a:t>
            </a:r>
            <a:r>
              <a:rPr lang="en-US" sz="1100" dirty="0">
                <a:latin typeface="Times New Roman" panose="02020603050405020304" pitchFamily="18" charset="0"/>
                <a:cs typeface="Times New Roman" panose="02020603050405020304" pitchFamily="18" charset="0"/>
              </a:rPr>
              <a:t>): An interactive dashboard was developed using charts, slicers, and graphs. </a:t>
            </a:r>
            <a:endParaRPr lang="en-IN" sz="1600"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230693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450158"/>
            <a:ext cx="8229600" cy="401903"/>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Live Demo of Project</a:t>
            </a:r>
            <a:endParaRPr lang="en-US" sz="2000" dirty="0">
              <a:latin typeface="Times New Roman" panose="02020603050405020304" pitchFamily="18" charset="0"/>
              <a:cs typeface="Times New Roman" panose="02020603050405020304" pitchFamily="18" charset="0"/>
            </a:endParaRPr>
          </a:p>
        </p:txBody>
      </p:sp>
      <p:sp>
        <p:nvSpPr>
          <p:cNvPr id="6" name="Text 4"/>
          <p:cNvSpPr/>
          <p:nvPr/>
        </p:nvSpPr>
        <p:spPr>
          <a:xfrm>
            <a:off x="125487" y="770351"/>
            <a:ext cx="8412480" cy="357704"/>
          </a:xfrm>
          <a:prstGeom prst="rect">
            <a:avLst/>
          </a:prstGeom>
          <a:noFill/>
          <a:ln/>
        </p:spPr>
        <p:txBody>
          <a:bodyPr wrap="square" rtlCol="0" anchor="ctr"/>
          <a:lstStyle/>
          <a:p>
            <a:pPr marL="0" indent="0">
              <a:buNone/>
            </a:pPr>
            <a:r>
              <a:rPr lang="en-US" dirty="0">
                <a:latin typeface="Times New Roman" panose="02020603050405020304" pitchFamily="18" charset="0"/>
                <a:ea typeface="Calibri" pitchFamily="34" charset="-122"/>
                <a:cs typeface="Times New Roman" panose="02020603050405020304" pitchFamily="18" charset="0"/>
              </a:rPr>
              <a:t>Here's the list of some demo screenshots / features of the project:</a:t>
            </a:r>
            <a:endParaRPr lang="en-US" dirty="0">
              <a:latin typeface="Times New Roman" panose="02020603050405020304" pitchFamily="18" charset="0"/>
              <a:cs typeface="Times New Roman" panose="02020603050405020304" pitchFamily="18" charset="0"/>
            </a:endParaRPr>
          </a:p>
        </p:txBody>
      </p:sp>
      <p:sp>
        <p:nvSpPr>
          <p:cNvPr id="9" name="Shape 7"/>
          <p:cNvSpPr/>
          <p:nvPr/>
        </p:nvSpPr>
        <p:spPr>
          <a:xfrm>
            <a:off x="274320" y="3696570"/>
            <a:ext cx="2788920" cy="1139363"/>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r>
              <a:rPr lang="en-IN" dirty="0">
                <a:latin typeface="Times New Roman" panose="02020603050405020304" pitchFamily="18" charset="0"/>
                <a:cs typeface="Times New Roman" panose="02020603050405020304" pitchFamily="18" charset="0"/>
              </a:rPr>
              <a:t>Cleaned  data into structured standardized format.</a:t>
            </a: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3449166" y="3639169"/>
            <a:ext cx="2558441" cy="1209468"/>
          </a:xfrm>
          <a:prstGeom prst="rect">
            <a:avLst/>
          </a:prstGeom>
          <a:solidFill>
            <a:srgbClr val="FDF3ED"/>
          </a:solidFill>
          <a:ln/>
          <a:effectLst>
            <a:outerShdw blurRad="101600" dist="38100" dir="8100000" algn="bl" rotWithShape="0">
              <a:srgbClr val="000000">
                <a:alpha val="15000"/>
              </a:srgbClr>
            </a:outerShdw>
          </a:effectLst>
        </p:spPr>
        <p:txBody>
          <a:bodyPr/>
          <a:lstStyle/>
          <a:p>
            <a:r>
              <a:rPr lang="en-IN" dirty="0">
                <a:latin typeface="Times New Roman" panose="02020603050405020304" pitchFamily="18" charset="0"/>
                <a:cs typeface="Times New Roman" panose="02020603050405020304" pitchFamily="18" charset="0"/>
              </a:rPr>
              <a:t>Prepared Dashboard in Excel by using pivot table.</a:t>
            </a: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ea typeface="Calibri" pitchFamily="34" charset="-122"/>
              <a:cs typeface="Arial" panose="020B0604020202020204"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337037" y="1176387"/>
            <a:ext cx="2558443" cy="3486902"/>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dirty="0">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endParaRPr lang="en-US" sz="1600" b="1" dirty="0">
              <a:latin typeface="Lato" panose="020F0502020204030203" pitchFamily="34" charset="0"/>
              <a:ea typeface="Calibri" pitchFamily="34" charset="-122"/>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3" name="Picture 2">
            <a:extLst>
              <a:ext uri="{FF2B5EF4-FFF2-40B4-BE49-F238E27FC236}">
                <a16:creationId xmlns:a16="http://schemas.microsoft.com/office/drawing/2014/main" id="{A109C7B1-D30E-D5A9-BFCD-E4395B42D2DB}"/>
              </a:ext>
            </a:extLst>
          </p:cNvPr>
          <p:cNvPicPr>
            <a:picLocks noChangeAspect="1"/>
          </p:cNvPicPr>
          <p:nvPr/>
        </p:nvPicPr>
        <p:blipFill>
          <a:blip r:embed="rId4"/>
          <a:stretch>
            <a:fillRect/>
          </a:stretch>
        </p:blipFill>
        <p:spPr>
          <a:xfrm>
            <a:off x="50799" y="1222611"/>
            <a:ext cx="3093105" cy="2473960"/>
          </a:xfrm>
          <a:prstGeom prst="rect">
            <a:avLst/>
          </a:prstGeom>
        </p:spPr>
      </p:pic>
      <p:pic>
        <p:nvPicPr>
          <p:cNvPr id="24" name="Picture 23">
            <a:extLst>
              <a:ext uri="{FF2B5EF4-FFF2-40B4-BE49-F238E27FC236}">
                <a16:creationId xmlns:a16="http://schemas.microsoft.com/office/drawing/2014/main" id="{18E06800-AE99-5209-0906-F6DA72883A79}"/>
              </a:ext>
            </a:extLst>
          </p:cNvPr>
          <p:cNvPicPr>
            <a:picLocks noChangeAspect="1"/>
          </p:cNvPicPr>
          <p:nvPr/>
        </p:nvPicPr>
        <p:blipFill>
          <a:blip r:embed="rId5"/>
          <a:stretch>
            <a:fillRect/>
          </a:stretch>
        </p:blipFill>
        <p:spPr>
          <a:xfrm>
            <a:off x="6346874" y="1227025"/>
            <a:ext cx="2586119" cy="1320961"/>
          </a:xfrm>
          <a:prstGeom prst="rect">
            <a:avLst/>
          </a:prstGeom>
        </p:spPr>
      </p:pic>
      <p:pic>
        <p:nvPicPr>
          <p:cNvPr id="26" name="Picture 25">
            <a:extLst>
              <a:ext uri="{FF2B5EF4-FFF2-40B4-BE49-F238E27FC236}">
                <a16:creationId xmlns:a16="http://schemas.microsoft.com/office/drawing/2014/main" id="{74B35E04-9B70-1D2F-AA0D-5ED83DFE6BB8}"/>
              </a:ext>
            </a:extLst>
          </p:cNvPr>
          <p:cNvPicPr>
            <a:picLocks noChangeAspect="1"/>
          </p:cNvPicPr>
          <p:nvPr/>
        </p:nvPicPr>
        <p:blipFill>
          <a:blip r:embed="rId6"/>
          <a:stretch>
            <a:fillRect/>
          </a:stretch>
        </p:blipFill>
        <p:spPr>
          <a:xfrm>
            <a:off x="6393533" y="2547986"/>
            <a:ext cx="2558442" cy="1046985"/>
          </a:xfrm>
          <a:prstGeom prst="rect">
            <a:avLst/>
          </a:prstGeom>
        </p:spPr>
      </p:pic>
      <p:sp>
        <p:nvSpPr>
          <p:cNvPr id="27" name="TextBox 26">
            <a:extLst>
              <a:ext uri="{FF2B5EF4-FFF2-40B4-BE49-F238E27FC236}">
                <a16:creationId xmlns:a16="http://schemas.microsoft.com/office/drawing/2014/main" id="{024F36FC-7EE8-0EEC-5D40-86EFA79836E6}"/>
              </a:ext>
            </a:extLst>
          </p:cNvPr>
          <p:cNvSpPr txBox="1"/>
          <p:nvPr/>
        </p:nvSpPr>
        <p:spPr>
          <a:xfrm>
            <a:off x="6393533" y="3639169"/>
            <a:ext cx="2421282"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Pivot Table use to Create a attractive dashboard in excel. </a:t>
            </a:r>
          </a:p>
        </p:txBody>
      </p:sp>
      <p:pic>
        <p:nvPicPr>
          <p:cNvPr id="7" name="Picture 6">
            <a:extLst>
              <a:ext uri="{FF2B5EF4-FFF2-40B4-BE49-F238E27FC236}">
                <a16:creationId xmlns:a16="http://schemas.microsoft.com/office/drawing/2014/main" id="{A44FCDA4-5472-5160-642F-5153294086E0}"/>
              </a:ext>
            </a:extLst>
          </p:cNvPr>
          <p:cNvPicPr>
            <a:picLocks noChangeAspect="1"/>
          </p:cNvPicPr>
          <p:nvPr/>
        </p:nvPicPr>
        <p:blipFill>
          <a:blip r:embed="rId7"/>
          <a:stretch>
            <a:fillRect/>
          </a:stretch>
        </p:blipFill>
        <p:spPr>
          <a:xfrm>
            <a:off x="3247058" y="1172254"/>
            <a:ext cx="3019152" cy="2422716"/>
          </a:xfrm>
          <a:prstGeom prst="rect">
            <a:avLst/>
          </a:prstGeom>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4992624" cy="219456"/>
          </a:xfrm>
          <a:prstGeom prst="rect">
            <a:avLst/>
          </a:prstGeom>
          <a:noFill/>
          <a:ln/>
        </p:spPr>
        <p:txBody>
          <a:bodyPr wrap="square" rtlCol="0" anchor="ctr"/>
          <a:lstStyle/>
          <a:p>
            <a:r>
              <a:rPr lang="en-US" sz="900" dirty="0">
                <a:solidFill>
                  <a:srgbClr val="607D8B"/>
                </a:solidFill>
                <a:latin typeface="Calibri" pitchFamily="34" charset="0"/>
                <a:ea typeface="Calibri" pitchFamily="34" charset="-122"/>
                <a:cs typeface="Calibri" pitchFamily="34" charset="-120"/>
              </a:rPr>
              <a:t>[https://your-project-https://drive.google.com/file/d/1HVyWUJaS0mXUJqZAh0sIWjmRuTrwpMsW/view?usp=drive_linkdemo-link.com]</a:t>
            </a: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Conclusion</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200643" y="1136914"/>
            <a:ext cx="4446513" cy="3309356"/>
          </a:xfrm>
          <a:prstGeom prst="rect">
            <a:avLst/>
          </a:prstGeom>
          <a:noFill/>
          <a:ln/>
        </p:spPr>
        <p:txBody>
          <a:bodyPr wrap="square" rtlCol="0" anchor="t"/>
          <a:lstStyle/>
          <a:p>
            <a:r>
              <a:rPr lang="en-US" sz="1200" dirty="0">
                <a:latin typeface="Times New Roman" panose="02020603050405020304" pitchFamily="18" charset="0"/>
                <a:cs typeface="Times New Roman" panose="02020603050405020304" pitchFamily="18" charset="0"/>
              </a:rPr>
              <a:t>This project successfully transformed fragmented hospital emergency room data into a structured and interactive dashboard, enabling clear visibility of patient flow, wait times, and service efficiency. By developing custom KPIs and integrating multiple data dimensions, hidden patterns and performance gaps were identified effectively. The dashboard not only simplifies complex data analysis but also supports better and faster decision-making in emergency healthcare management, demonstrating the practical value of data analytics in improving operational efficiency</a:t>
            </a:r>
            <a:r>
              <a:rPr lang="en-US" sz="1100" dirty="0"/>
              <a:t>.</a:t>
            </a: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Times New Roman" panose="02020603050405020304" pitchFamily="18" charset="0"/>
                <a:ea typeface="Calibri" pitchFamily="34" charset="-122"/>
                <a:cs typeface="Times New Roman" panose="02020603050405020304" pitchFamily="18" charset="0"/>
              </a:rPr>
              <a:t>Future Scope</a:t>
            </a:r>
            <a:endParaRPr lang="en-US" sz="2000" dirty="0">
              <a:latin typeface="Times New Roman" panose="02020603050405020304" pitchFamily="18" charset="0"/>
              <a:cs typeface="Times New Roman" panose="02020603050405020304" pitchFamily="18" charset="0"/>
            </a:endParaRPr>
          </a:p>
        </p:txBody>
      </p:sp>
      <p:sp>
        <p:nvSpPr>
          <p:cNvPr id="14" name="Text 12"/>
          <p:cNvSpPr/>
          <p:nvPr/>
        </p:nvSpPr>
        <p:spPr>
          <a:xfrm>
            <a:off x="123247" y="1082104"/>
            <a:ext cx="4114800" cy="3474720"/>
          </a:xfrm>
          <a:prstGeom prst="rect">
            <a:avLst/>
          </a:prstGeom>
          <a:noFill/>
          <a:ln/>
        </p:spPr>
        <p:txBody>
          <a:bodyPr wrap="square" rtlCol="0" anchor="t"/>
          <a:lstStyle/>
          <a:p>
            <a:r>
              <a:rPr lang="en-US" sz="1100" dirty="0">
                <a:latin typeface="Times New Roman" panose="02020603050405020304" pitchFamily="18" charset="0"/>
                <a:cs typeface="Times New Roman" panose="02020603050405020304" pitchFamily="18" charset="0"/>
              </a:rPr>
              <a:t>Integration with real-time hospital data systems for live patient tracking.</a:t>
            </a:r>
          </a:p>
          <a:p>
            <a:r>
              <a:rPr lang="en-US" sz="1100" dirty="0">
                <a:latin typeface="Times New Roman" panose="02020603050405020304" pitchFamily="18" charset="0"/>
                <a:cs typeface="Times New Roman" panose="02020603050405020304" pitchFamily="18" charset="0"/>
              </a:rPr>
              <a:t>Use of advanced tools like Power BI or AI for predictive analysis (e.g., patient inflow, waiting time).Automation of data cleaning processes to reduce manual effort and errors.</a:t>
            </a:r>
          </a:p>
          <a:p>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Inclusion of more KPIs such as patient satisfaction, treatment efficiency, and staff performance.</a:t>
            </a:r>
          </a:p>
          <a:p>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Mobile-friendly dashboards for quick access by hospital management.</a:t>
            </a:r>
          </a:p>
          <a:p>
            <a:r>
              <a:rPr lang="en-US" sz="1100" dirty="0">
                <a:latin typeface="Times New Roman" panose="02020603050405020304" pitchFamily="18" charset="0"/>
                <a:cs typeface="Times New Roman" panose="02020603050405020304" pitchFamily="18" charset="0"/>
              </a:rPr>
              <a:t>Expansion to multi-department analysis beyond emergency rooms.</a:t>
            </a:r>
          </a:p>
          <a:p>
            <a:r>
              <a:rPr lang="en-US" sz="1100" dirty="0">
                <a:latin typeface="Times New Roman" panose="02020603050405020304" pitchFamily="18" charset="0"/>
                <a:cs typeface="Times New Roman" panose="02020603050405020304" pitchFamily="18" charset="0"/>
              </a:rPr>
              <a:t>Improved  data visualization techniques for better decision-making.</a:t>
            </a:r>
          </a:p>
          <a:p>
            <a:r>
              <a:rPr lang="en-US" sz="1100" dirty="0">
                <a:latin typeface="Times New Roman" panose="02020603050405020304" pitchFamily="18" charset="0"/>
                <a:cs typeface="Times New Roman" panose="02020603050405020304" pitchFamily="18" charset="0"/>
              </a:rPr>
              <a:t>This project can be further enhanced by adopting modern analytics tools and real-time data integration for smarter healthcare management.</a:t>
            </a: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Times New Roman" panose="02020603050405020304" pitchFamily="18" charset="0"/>
                <a:ea typeface="Calibri" pitchFamily="34" charset="-122"/>
                <a:cs typeface="Times New Roman" panose="02020603050405020304" pitchFamily="18" charset="0"/>
              </a:rPr>
              <a:t>AICW Fellowship  |  Student Project Presentation 2026</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a:t>
            </a:r>
            <a:r>
              <a:rPr lang="en-US" sz="1100" dirty="0">
                <a:latin typeface="Times New Roman" panose="02020603050405020304" pitchFamily="18" charset="0"/>
                <a:ea typeface="Calibri"/>
                <a:cs typeface="Times New Roman" panose="02020603050405020304" pitchFamily="18" charset="0"/>
              </a:rPr>
              <a:t>LinkedIn  |   </a:t>
            </a:r>
            <a:r>
              <a:rPr lang="en-US" sz="1100" dirty="0" err="1">
                <a:latin typeface="Times New Roman" panose="02020603050405020304" pitchFamily="18" charset="0"/>
                <a:ea typeface="Calibri"/>
                <a:cs typeface="Times New Roman" panose="02020603050405020304" pitchFamily="18" charset="0"/>
              </a:rPr>
              <a:t>Edunet</a:t>
            </a:r>
            <a:r>
              <a:rPr lang="en-US" sz="1100" dirty="0">
                <a:latin typeface="Times New Roman" panose="02020603050405020304" pitchFamily="18" charset="0"/>
                <a:ea typeface="Calibri"/>
                <a:cs typeface="Times New Roman" panose="02020603050405020304" pitchFamily="18" charset="0"/>
              </a:rPr>
              <a:t> Foundation</a:t>
            </a:r>
            <a:endParaRPr lang="en-US" sz="1100" dirty="0">
              <a:latin typeface="Times New Roman" panose="02020603050405020304" pitchFamily="18" charset="0"/>
              <a:cs typeface="Times New Roman" panose="02020603050405020304" pitchFamily="18"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Times New Roman" panose="02020603050405020304" pitchFamily="18" charset="0"/>
                <a:ea typeface="Aileron Ultra-Bold"/>
                <a:cs typeface="Times New Roman" panose="02020603050405020304" pitchFamily="18"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1938</TotalTime>
  <Words>987</Words>
  <Application>Microsoft Office PowerPoint</Application>
  <PresentationFormat>On-screen Show (16:9)</PresentationFormat>
  <Paragraphs>96</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Lato</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Shanti Computers</cp:lastModifiedBy>
  <cp:revision>39</cp:revision>
  <dcterms:created xsi:type="dcterms:W3CDTF">2026-02-18T09:17:23Z</dcterms:created>
  <dcterms:modified xsi:type="dcterms:W3CDTF">2026-04-18T12:19:47Z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